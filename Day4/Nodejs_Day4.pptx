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Average"/>
      <p:regular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ihPKx3Z8sp7/6pIHDhqv49rMy4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Oswald-regular.fntdata"/><Relationship Id="rId23" Type="http://schemas.openxmlformats.org/officeDocument/2006/relationships/font" Target="fonts/Averag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Oswa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3bf30768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3bf30768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17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5" name="Google Shape;15;p17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7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7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7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17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3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23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27"/>
          <p:cNvGrpSpPr/>
          <p:nvPr/>
        </p:nvGrpSpPr>
        <p:grpSpPr>
          <a:xfrm>
            <a:off x="4350277" y="2855378"/>
            <a:ext cx="443589" cy="105632"/>
            <a:chOff x="4137525" y="2915950"/>
            <a:chExt cx="869100" cy="207000"/>
          </a:xfrm>
        </p:grpSpPr>
        <p:sp>
          <p:nvSpPr>
            <p:cNvPr id="68" name="Google Shape;68;p27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7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7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27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2" name="Google Shape;72;p27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3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3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2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32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3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98" name="Google Shape;98;p3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1" name="Google Shape;101;p34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b="0" i="0" sz="18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b="0" i="0" sz="18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1.png"/><Relationship Id="rId13" Type="http://schemas.openxmlformats.org/officeDocument/2006/relationships/image" Target="../media/image16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2.png"/><Relationship Id="rId15" Type="http://schemas.openxmlformats.org/officeDocument/2006/relationships/image" Target="../media/image9.png"/><Relationship Id="rId14" Type="http://schemas.openxmlformats.org/officeDocument/2006/relationships/image" Target="../media/image18.png"/><Relationship Id="rId17" Type="http://schemas.openxmlformats.org/officeDocument/2006/relationships/image" Target="../media/image8.png"/><Relationship Id="rId16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18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/>
        </p:nvSpPr>
        <p:spPr>
          <a:xfrm>
            <a:off x="685885" y="657224"/>
            <a:ext cx="38862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rgbClr val="5A69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71525" y="4436625"/>
            <a:ext cx="28389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Mohamed Omran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Senior Software Engineer @The Fabulous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5A6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5A6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5A6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5A69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572000" y="0"/>
            <a:ext cx="3579600" cy="42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37" y="1659543"/>
            <a:ext cx="1790326" cy="10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764" y="1177286"/>
            <a:ext cx="480060" cy="4800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2544" y="205744"/>
            <a:ext cx="274321" cy="27432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1181" y="594356"/>
            <a:ext cx="480060" cy="4800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7">
            <a:alphaModFix/>
          </a:blip>
          <a:srcRect b="0" l="25958" r="27336" t="10976"/>
          <a:stretch/>
        </p:blipFill>
        <p:spPr>
          <a:xfrm>
            <a:off x="5429250" y="342900"/>
            <a:ext cx="342899" cy="34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20138" y="879525"/>
            <a:ext cx="342900" cy="34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6563" y="8795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45394" y="1224394"/>
            <a:ext cx="411480" cy="41148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1"/>
          <p:cNvPicPr preferRelativeResize="0"/>
          <p:nvPr/>
        </p:nvPicPr>
        <p:blipFill rotWithShape="1">
          <a:blip r:embed="rId11">
            <a:alphaModFix/>
          </a:blip>
          <a:srcRect b="0" l="22577" r="21314" t="0"/>
          <a:stretch/>
        </p:blipFill>
        <p:spPr>
          <a:xfrm>
            <a:off x="7503806" y="594356"/>
            <a:ext cx="480054" cy="606376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12">
            <a:alphaModFix/>
          </a:blip>
          <a:srcRect b="25008" l="13781" r="22592" t="11787"/>
          <a:stretch/>
        </p:blipFill>
        <p:spPr>
          <a:xfrm>
            <a:off x="7162228" y="2535413"/>
            <a:ext cx="577806" cy="480057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20444" y="2608641"/>
            <a:ext cx="850392" cy="4800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19213" y="3501769"/>
            <a:ext cx="411479" cy="41148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" name="Google Shape;124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72300" y="377194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899753" y="2920781"/>
            <a:ext cx="850392" cy="48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33269" y="3269531"/>
            <a:ext cx="764554" cy="34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152094" y="3200944"/>
            <a:ext cx="850391" cy="480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3bf30768e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3bf30768e_0_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g393bf30768e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900" y="0"/>
            <a:ext cx="3886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5200" y="0"/>
            <a:ext cx="51434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" y="-77800"/>
            <a:ext cx="416171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397" y="1081434"/>
            <a:ext cx="4502650" cy="298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Content </a:t>
            </a:r>
            <a:r>
              <a:rPr b="0" i="0" lang="en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(Day 4)</a:t>
            </a:r>
            <a:endParaRPr b="0" i="0" sz="24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Font typeface="Average"/>
              <a:buChar char="●"/>
            </a:pPr>
            <a:r>
              <a:rPr b="0" i="0" lang="en" sz="1500" u="none" cap="none" strike="noStrike">
                <a:solidFill>
                  <a:srgbClr val="B7B7B7"/>
                </a:solidFill>
                <a:latin typeface="Average"/>
                <a:ea typeface="Average"/>
                <a:cs typeface="Average"/>
                <a:sym typeface="Average"/>
              </a:rPr>
              <a:t>Model, controller, route</a:t>
            </a:r>
            <a:endParaRPr b="0" i="0" sz="1500" u="none" cap="none" strike="noStrike">
              <a:solidFill>
                <a:srgbClr val="B7B7B7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Font typeface="Average"/>
              <a:buChar char="●"/>
            </a:pPr>
            <a:r>
              <a:rPr b="0" i="0" lang="en" sz="1500" u="none" cap="none" strike="noStrike">
                <a:solidFill>
                  <a:srgbClr val="B7B7B7"/>
                </a:solidFill>
                <a:latin typeface="Average"/>
                <a:ea typeface="Average"/>
                <a:cs typeface="Average"/>
                <a:sym typeface="Average"/>
              </a:rPr>
              <a:t>CORS</a:t>
            </a:r>
            <a:endParaRPr b="0" i="0" sz="1500" u="none" cap="none" strike="noStrike">
              <a:solidFill>
                <a:srgbClr val="B7B7B7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Font typeface="Average"/>
              <a:buChar char="●"/>
            </a:pPr>
            <a:r>
              <a:rPr b="0" i="0" lang="en" sz="1500" u="none" cap="none" strike="noStrike">
                <a:solidFill>
                  <a:srgbClr val="B7B7B7"/>
                </a:solidFill>
                <a:latin typeface="Average"/>
                <a:ea typeface="Average"/>
                <a:cs typeface="Average"/>
                <a:sym typeface="Average"/>
              </a:rPr>
              <a:t>Mongoose</a:t>
            </a:r>
            <a:endParaRPr b="0" i="0" sz="1500" u="none" cap="none" strike="noStrike">
              <a:solidFill>
                <a:srgbClr val="B7B7B7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Font typeface="Average"/>
              <a:buChar char="●"/>
            </a:pPr>
            <a:r>
              <a:rPr b="0" i="0" lang="en" sz="1500" u="none" cap="none" strike="noStrike">
                <a:solidFill>
                  <a:srgbClr val="B7B7B7"/>
                </a:solidFill>
                <a:latin typeface="Average"/>
                <a:ea typeface="Average"/>
                <a:cs typeface="Average"/>
                <a:sym typeface="Average"/>
              </a:rPr>
              <a:t>Hashing VS Encryption</a:t>
            </a:r>
            <a:endParaRPr b="0" i="0" sz="1500" u="none" cap="none" strike="noStrike">
              <a:solidFill>
                <a:srgbClr val="B7B7B7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Font typeface="Average"/>
              <a:buChar char="●"/>
            </a:pPr>
            <a:r>
              <a:rPr b="0" i="0" lang="en" sz="1500" u="none" cap="none" strike="noStrike">
                <a:solidFill>
                  <a:srgbClr val="B7B7B7"/>
                </a:solidFill>
                <a:latin typeface="Average"/>
                <a:ea typeface="Average"/>
                <a:cs typeface="Average"/>
                <a:sym typeface="Average"/>
              </a:rPr>
              <a:t>bcrypt.js</a:t>
            </a:r>
            <a:endParaRPr b="0" i="0" sz="1500" u="none" cap="none" strike="noStrike">
              <a:solidFill>
                <a:srgbClr val="B7B7B7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Font typeface="Average"/>
              <a:buChar char="●"/>
            </a:pPr>
            <a:r>
              <a:rPr b="0" i="0" lang="en" sz="1500" u="none" cap="none" strike="noStrike">
                <a:solidFill>
                  <a:srgbClr val="B7B7B7"/>
                </a:solidFill>
                <a:latin typeface="Average"/>
                <a:ea typeface="Average"/>
                <a:cs typeface="Average"/>
                <a:sym typeface="Average"/>
              </a:rPr>
              <a:t>Error handling</a:t>
            </a:r>
            <a:endParaRPr b="0" i="0" sz="1500" u="none" cap="none" strike="noStrike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645900" y="1856100"/>
            <a:ext cx="7852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Model, controller, route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CORS;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Mongoose</a:t>
            </a:r>
            <a:endParaRPr b="0" i="0" sz="30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98475" y="1301800"/>
            <a:ext cx="76653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ODM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Schema, Model =&gt; Collection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Schema Types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Validations (update validators)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 Validations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Queries (promises?, exec, where, limit, sort, select)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Populate (Relations)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Static vs Instance Methods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Middlewares (ex: saving passwords, cascade delete, built-in validate)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Transactions</a:t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toJSON {transformer}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Hashing VS Encryption</a:t>
            </a:r>
            <a:endParaRPr/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425" y="1339700"/>
            <a:ext cx="7117151" cy="31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Hashing VS Encryption</a:t>
            </a:r>
            <a:endParaRPr/>
          </a:p>
        </p:txBody>
      </p:sp>
      <p:pic>
        <p:nvPicPr>
          <p:cNvPr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625" y="1157276"/>
            <a:ext cx="6084749" cy="37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bcrypt.js;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Error Handling;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